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esidency_fountain_campu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731520"/>
            <a:ext cx="493776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F59E0B"/>
                </a:solidFill>
              </a:defRPr>
            </a:pPr>
            <a:r>
              <a:t>CAMPUS AI INNOVATION CHALLENGE</a:t>
            </a:r>
          </a:p>
          <a:p>
            <a:pPr>
              <a:spcAft>
                <a:spcPts val="1000"/>
              </a:spcAft>
              <a:defRPr sz="3200" b="1">
                <a:solidFill>
                  <a:srgbClr val="FFFFFF"/>
                </a:solidFill>
              </a:defRPr>
            </a:pPr>
            <a:r>
              <a:t>Presidency University OIA AI Counselor</a:t>
            </a:r>
          </a:p>
          <a:p>
            <a:pPr>
              <a:spcAft>
                <a:spcPts val="2800"/>
              </a:spcAft>
              <a:defRPr sz="1500">
                <a:solidFill>
                  <a:srgbClr val="CBD5E1"/>
                </a:solidFill>
              </a:defRPr>
            </a:pPr>
            <a:r>
              <a:t>Solving Student Doubt Resolution &amp; Staff Workload via Edge-Optimized Multi-Source ChromaDB RAG with Real-Time Streaming &amp; Multimodal Visual Retrieval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• Assigned Department: Office of International Affairs (OIA), Taiwan Education Center</a:t>
            </a:r>
            <a:br/>
            <a:r>
              <a:t>• Core Model: Qwen2.5-0.5B-Instruct (490M Parameters, 1.2 GB RAM)</a:t>
            </a:r>
            <a:br/>
            <a:r>
              <a:t>• Team M3AR | Presidency University, Bengaluru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7B6"/>
                </a:solidFill>
              </a:defRPr>
            </a:pPr>
            <a:r>
              <a:t>STEP 1 &amp; 2: EXPLORE &amp; INTERVIEW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2545"/>
                </a:solidFill>
              </a:defRPr>
            </a:pPr>
            <a:r>
              <a:t>The Real-World Problem: OIA Department &amp; Student Disconnect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B2545"/>
                </a:solidFill>
              </a:defRPr>
            </a:pPr>
            <a:r>
              <a:t>🚨 OIA Staff Pain Points &amp; Bottlenecks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Overwhelming Influx of Repetitive Queries: </a:t>
            </a:r>
            <a:r>
              <a:rPr sz="1200">
                <a:solidFill>
                  <a:srgbClr val="64748B"/>
                </a:solidFill>
              </a:rPr>
              <a:t>Staff are flooded with repetitive inquiries about 165+ MOUs, visa rules, student exchanges, scholarships, and Form C.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Busy Schedule &amp; Time Constraints: </a:t>
            </a:r>
            <a:r>
              <a:rPr sz="1200">
                <a:solidFill>
                  <a:srgbClr val="64748B"/>
                </a:solidFill>
              </a:rPr>
              <a:t>Coordinators are heavily committed with international delegation visits, embassy delegations, curriculum mapping, and administrative meetings.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Unofficial After-Hours Pressure: </a:t>
            </a:r>
            <a:r>
              <a:rPr sz="1200">
                <a:solidFill>
                  <a:srgbClr val="64748B"/>
                </a:solidFill>
              </a:rPr>
              <a:t>Field interview revealed that while official office hours are 9:00 AM - 5:00 PM, anxious students message coordinators on WhatsApp late into the night.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First-Year Orientation Gap: </a:t>
            </a:r>
            <a:r>
              <a:rPr sz="1200">
                <a:solidFill>
                  <a:srgbClr val="64748B"/>
                </a:solidFill>
              </a:rPr>
              <a:t>Freshmen and junior students lack awareness before formal senior orientations and need immediate self-service checklists.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77B6"/>
                </a:solidFill>
              </a:defRPr>
            </a:pPr>
            <a:r>
              <a:t>🎓 Student Dilemmas &amp; Anxieties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Critical Immigration Deadlines: </a:t>
            </a:r>
            <a:r>
              <a:rPr sz="1200">
                <a:solidFill>
                  <a:srgbClr val="64748B"/>
                </a:solidFill>
              </a:rPr>
              <a:t>Foreign students landing in India have a strict, legal 14-day window for e-FRRO registration. Missing it causes heavy fines and police issues.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Unanswered Post-Graduation Anxieties: </a:t>
            </a:r>
            <a:r>
              <a:rPr sz="1200">
                <a:solidFill>
                  <a:srgbClr val="64748B"/>
                </a:solidFill>
              </a:rPr>
              <a:t>Top recurrent concerns: 'Will I be able to secure a job abroad?' and 'What level of scholarship is provided?'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Fragmented Information Sources: </a:t>
            </a:r>
            <a:r>
              <a:rPr sz="1200">
                <a:solidFill>
                  <a:srgbClr val="64748B"/>
                </a:solidFill>
              </a:rPr>
              <a:t>Details scattered across website tabs, PDF handbooks, and physical office bulletin boards.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Fear of Approaching Authority: </a:t>
            </a:r>
            <a:r>
              <a:rPr sz="1200">
                <a:solidFill>
                  <a:srgbClr val="64748B"/>
                </a:solidFill>
              </a:rPr>
              <a:t>Students hesitate to knock on administration doors for small doubts (e.g. fee payment SWIFT codes, hostel Form C, Bon Voyage grants).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7B6"/>
                </a:solidFill>
              </a:defRPr>
            </a:pPr>
            <a:r>
              <a:t>SOLUTION IMPACT &amp; 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2545"/>
                </a:solidFill>
              </a:defRPr>
            </a:pPr>
            <a:r>
              <a:t>Mutual Benefit: Empowering Both Students &amp; The Department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0077B6"/>
                </a:solidFill>
              </a:defRPr>
            </a:pPr>
            <a:r>
              <a:t>FOR STUDENTS: 24/7 Instant Clarity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✓ Immediate Doubts Clearance: </a:t>
            </a:r>
            <a:r>
              <a:rPr sz="1200">
                <a:solidFill>
                  <a:srgbClr val="64748B"/>
                </a:solidFill>
              </a:rPr>
              <a:t>Get instant, verified answers at 2:00 AM regarding visas, 165+ partner universities, and exchange credits.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✓ Multimodal Visual Orientation: </a:t>
            </a:r>
            <a:r>
              <a:rPr sz="1200">
                <a:solidFill>
                  <a:srgbClr val="64748B"/>
                </a:solidFill>
              </a:rPr>
              <a:t>See exact photos of the OIA entrance, advisory cabins, visitor lounge, and campus fountain.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✓ Empowered Decision-Making: </a:t>
            </a:r>
            <a:r>
              <a:rPr sz="1200">
                <a:solidFill>
                  <a:srgbClr val="64748B"/>
                </a:solidFill>
              </a:rPr>
              <a:t>Encourages students to evaluate pathways based on individual career goals rather than peer pressure.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✓ One-Click Official Reach Us: </a:t>
            </a:r>
            <a:r>
              <a:rPr sz="1200">
                <a:solidFill>
                  <a:srgbClr val="64748B"/>
                </a:solidFill>
              </a:rPr>
              <a:t>Always provides direct official phone lines, WhatsApp helpdesk, and email if personal counseling is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0B2545"/>
                </a:solidFill>
              </a:defRPr>
            </a:pPr>
            <a:r>
              <a:t>FOR OIA STAFF: Freedom to Focus on Strategy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✓ 70%+ Reduction in Repetitive Queries: </a:t>
            </a:r>
            <a:r>
              <a:rPr sz="1200">
                <a:solidFill>
                  <a:srgbClr val="64748B"/>
                </a:solidFill>
              </a:rPr>
              <a:t>Autonomous resolution of basic checklists, eligibility rules, and FRRO procedures.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✓ Zero Midnight Disturbance: </a:t>
            </a:r>
            <a:r>
              <a:rPr sz="1200">
                <a:solidFill>
                  <a:srgbClr val="64748B"/>
                </a:solidFill>
              </a:rPr>
              <a:t>Relieves faculty coordinators from round-the-clock instant messaging anxiety.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✓ Strict Human Verification Boundary: </a:t>
            </a:r>
            <a:r>
              <a:rPr sz="1200">
                <a:solidFill>
                  <a:srgbClr val="64748B"/>
                </a:solidFill>
              </a:rPr>
              <a:t>Bot never exposes private student records; adheres to the department's mandate for personal data privacy.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✓ Scalable Internationalization: </a:t>
            </a:r>
            <a:r>
              <a:rPr sz="1200">
                <a:solidFill>
                  <a:srgbClr val="64748B"/>
                </a:solidFill>
              </a:rPr>
              <a:t>Effortlessly handles thousands of admission and exchange queries simultaneously during peak seasons.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7B6"/>
                </a:solidFill>
              </a:defRPr>
            </a:pPr>
            <a:r>
              <a:t>TECHNICAL ARCHITECTURE &amp; PRODUCTION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2545"/>
                </a:solidFill>
              </a:defRPr>
            </a:pPr>
            <a:r>
              <a:t>Core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731520" cy="54864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444752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2545"/>
                </a:solidFill>
              </a:defRPr>
            </a:pPr>
            <a:r>
              <a:t>Qwen2.5-0.5B-Instruct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Language Model: ultra-lightweight causal instruction LLM, Qwen series (Alibaba Cloud)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350008"/>
            <a:ext cx="731520" cy="548640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13432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2545"/>
                </a:solidFill>
              </a:defRPr>
            </a:pPr>
            <a:r>
              <a:t>Hugging Face Transformers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Text-generation pipeline, AutoModelForCausalLM, and generation parameters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3218688"/>
            <a:ext cx="731520" cy="548640"/>
          </a:xfrm>
          <a:prstGeom prst="round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182112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2545"/>
                </a:solidFill>
              </a:defRPr>
            </a:pPr>
            <a:r>
              <a:t>ChromaDB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Persistent vector storage, HNSW indexing, and sub-25ms semantic document retrieval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39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4087367"/>
            <a:ext cx="731520" cy="548640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050791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2545"/>
                </a:solidFill>
              </a:defRPr>
            </a:pPr>
            <a:r>
              <a:t>Sentence Transformers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Semantic embeddings via all-MiniLM-L6-v2 (384-dimensional dense vectors)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46320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4956048"/>
            <a:ext cx="73152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919472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2545"/>
                </a:solidFill>
              </a:defRPr>
            </a:pPr>
            <a:r>
              <a:t>Gradio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Interactive streaming web application with glassmorphism UI &amp; public live share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715000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5824728"/>
            <a:ext cx="731520" cy="54864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788152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2545"/>
                </a:solidFill>
              </a:defRPr>
            </a:pPr>
            <a:r>
              <a:t>Python 3.13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Application backend, asynchronous streaming, web scraping, and PDF ingestion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7B6"/>
                </a:solidFill>
              </a:defRPr>
            </a:pPr>
            <a:r>
              <a:t>MODEL SPECIFICATIONS &amp; INFERENCE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2545"/>
                </a:solidFill>
              </a:defRPr>
            </a:pPr>
            <a:r>
              <a:t>Selected Model, Task Specifications &amp; Runtime Parameters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B2545"/>
                </a:solidFill>
              </a:defRPr>
            </a:pPr>
            <a:r>
              <a:t>⚙️ Model Identity &amp; Generation Parameters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0F172A"/>
                </a:solidFill>
              </a:rPr>
              <a:t>• Official Model ID: </a:t>
            </a:r>
            <a:r>
              <a:rPr sz="1150">
                <a:solidFill>
                  <a:srgbClr val="0077B6"/>
                </a:solidFill>
              </a:rPr>
              <a:t>Qwen/Qwen2.5-0.5B-Instruct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0F172A"/>
                </a:solidFill>
              </a:rPr>
              <a:t>• Model Family &amp; Origin: </a:t>
            </a:r>
            <a:r>
              <a:rPr sz="1150">
                <a:solidFill>
                  <a:srgbClr val="0077B6"/>
                </a:solidFill>
              </a:rPr>
              <a:t>Qwen Series (Alibaba Cloud)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0F172A"/>
                </a:solidFill>
              </a:rPr>
              <a:t>• Parameter Count: </a:t>
            </a:r>
            <a:r>
              <a:rPr sz="1150">
                <a:solidFill>
                  <a:srgbClr val="0077B6"/>
                </a:solidFill>
              </a:rPr>
              <a:t>490 Million parameters (Dense Transformer)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0F172A"/>
                </a:solidFill>
              </a:rPr>
              <a:t>• Primary Task: </a:t>
            </a:r>
            <a:r>
              <a:rPr sz="1150">
                <a:solidFill>
                  <a:srgbClr val="0077B6"/>
                </a:solidFill>
              </a:rPr>
              <a:t>Grounded Multilingual Conversational QA &amp; Student Counseling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0F172A"/>
                </a:solidFill>
              </a:rPr>
              <a:t>• Inference Device: </a:t>
            </a:r>
            <a:r>
              <a:rPr sz="1150">
                <a:solidFill>
                  <a:srgbClr val="0077B6"/>
                </a:solidFill>
              </a:rPr>
              <a:t>CPU Optimized (PyTorch multi-threading, 4 cores)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0F172A"/>
                </a:solidFill>
              </a:rPr>
              <a:t>• Temperature: </a:t>
            </a:r>
            <a:r>
              <a:rPr sz="1150">
                <a:solidFill>
                  <a:srgbClr val="0077B6"/>
                </a:solidFill>
              </a:rPr>
              <a:t>0.3 (Strict factual grounding, near-zero hallucinations)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0F172A"/>
                </a:solidFill>
              </a:rPr>
              <a:t>• Max New Tokens: </a:t>
            </a:r>
            <a:r>
              <a:rPr sz="1150">
                <a:solidFill>
                  <a:srgbClr val="0077B6"/>
                </a:solidFill>
              </a:rPr>
              <a:t>250 tokens per generation turn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0F172A"/>
                </a:solidFill>
              </a:rPr>
              <a:t>• Repetition Penalty: </a:t>
            </a:r>
            <a:r>
              <a:rPr sz="1150">
                <a:solidFill>
                  <a:srgbClr val="0077B6"/>
                </a:solidFill>
              </a:rPr>
              <a:t>1.1 (Prevents cyclical loops on structured lists)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0F172A"/>
                </a:solidFill>
              </a:rPr>
              <a:t>• Sampling Strategy: </a:t>
            </a:r>
            <a:r>
              <a:rPr sz="1150">
                <a:solidFill>
                  <a:srgbClr val="0077B6"/>
                </a:solidFill>
              </a:rPr>
              <a:t>Greedy / Top-P (top_p = 0.9, do_sample = True)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077B6"/>
                </a:solidFill>
              </a:defRPr>
            </a:pPr>
            <a:r>
              <a:t>⚡ Memory (RAM) &amp; Execution Profile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0F172A"/>
                </a:solidFill>
              </a:rPr>
              <a:t>• Model Memory Footprint (Weights): </a:t>
            </a:r>
            <a:r>
              <a:rPr sz="1150">
                <a:solidFill>
                  <a:srgbClr val="64748B"/>
                </a:solidFill>
              </a:rPr>
              <a:t>~980 MB (FP16/FP32 precision)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0F172A"/>
                </a:solidFill>
              </a:rPr>
              <a:t>• Total Runtime Peak Working Set (RAM): </a:t>
            </a:r>
            <a:r>
              <a:rPr sz="1150">
                <a:solidFill>
                  <a:srgbClr val="64748B"/>
                </a:solidFill>
              </a:rPr>
              <a:t>1.2 GB - 1.4 GB (Runs comfortably on standard laptops)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0F172A"/>
                </a:solidFill>
              </a:rPr>
              <a:t>• ChromaDB Vector Store RAM: </a:t>
            </a:r>
            <a:r>
              <a:rPr sz="1150">
                <a:solidFill>
                  <a:srgbClr val="64748B"/>
                </a:solidFill>
              </a:rPr>
              <a:t>&lt; 65 MB resident RAM for all indexed documents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0F172A"/>
                </a:solidFill>
              </a:rPr>
              <a:t>• Time-to-First-Token (TTFT): </a:t>
            </a:r>
            <a:r>
              <a:rPr sz="1150">
                <a:solidFill>
                  <a:srgbClr val="64748B"/>
                </a:solidFill>
              </a:rPr>
              <a:t>~0.45 seconds on standard quad-core Intel/AMD CPU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0F172A"/>
                </a:solidFill>
              </a:rPr>
              <a:t>• Streaming Generation Speed: </a:t>
            </a:r>
            <a:r>
              <a:rPr sz="1150">
                <a:solidFill>
                  <a:srgbClr val="64748B"/>
                </a:solidFill>
              </a:rPr>
              <a:t>22 - 28 tokens/second on CPU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0F172A"/>
                </a:solidFill>
              </a:rPr>
              <a:t>• Token Streaming Architecture: </a:t>
            </a:r>
            <a:r>
              <a:rPr sz="1150">
                <a:solidFill>
                  <a:srgbClr val="64748B"/>
                </a:solidFill>
              </a:rPr>
              <a:t>TextIteratorStreamer with daemon thread decoupling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0F172A"/>
                </a:solidFill>
              </a:rPr>
              <a:t>• Cold Initialization Time: </a:t>
            </a:r>
            <a:r>
              <a:rPr sz="1150">
                <a:solidFill>
                  <a:srgbClr val="64748B"/>
                </a:solidFill>
              </a:rPr>
              <a:t>3.2 seconds from launch to ready state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0F172A"/>
                </a:solidFill>
              </a:rPr>
              <a:t>• Quantization Option (QLoRA): </a:t>
            </a:r>
            <a:r>
              <a:rPr sz="1150">
                <a:solidFill>
                  <a:srgbClr val="64748B"/>
                </a:solidFill>
              </a:rPr>
              <a:t>BitsAndBytes 4-bit NF4 cuts memory to ~400 MB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7B6"/>
                </a:solidFill>
              </a:defRPr>
            </a:pPr>
            <a:r>
              <a:t>COMPUTATIONAL BENCHMARK &amp; HARDWARE 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2545"/>
                </a:solidFill>
              </a:defRPr>
            </a:pPr>
            <a:r>
              <a:t>Model Comparison: Why Qwen2.5-0.5B is the Superior Choice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011680"/>
                <a:gridCol w="2011680"/>
                <a:gridCol w="2103120"/>
                <a:gridCol w="21031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3407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59E0B"/>
                          </a:solidFill>
                        </a:defRPr>
                      </a:pPr>
                      <a:r>
                        <a:t>Qwen2.5-0.5B (Selected)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Gemma 2 (2B)</a:t>
                      </a:r>
                    </a:p>
                  </a:txBody>
                  <a:tcPr>
                    <a:solidFill>
                      <a:srgbClr val="13407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Phi-3 Mini (3.8B)</a:t>
                      </a:r>
                    </a:p>
                  </a:txBody>
                  <a:tcPr>
                    <a:solidFill>
                      <a:srgbClr val="13407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Qwen2.5-7B</a:t>
                      </a:r>
                    </a:p>
                  </a:txBody>
                  <a:tcPr>
                    <a:solidFill>
                      <a:srgbClr val="13407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Active Parameters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77B6"/>
                          </a:solidFill>
                        </a:defRPr>
                      </a:pPr>
                      <a:r>
                        <a:t>0.49 Billion (490M)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2.6 Billion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3.8 Billion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7.6 Billion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RAM Usage (CPU)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77B6"/>
                          </a:solidFill>
                        </a:defRPr>
                      </a:pPr>
                      <a:r>
                        <a:t>1.2 GB (Ultra-Lean)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5.4 GB - 6.8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8.2 GB - 9.5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16+ GB (OOM Risk)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CPU Token Speed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77B6"/>
                          </a:solidFill>
                        </a:defRPr>
                      </a:pPr>
                      <a:r>
                        <a:t>25 - 30 tokens/sec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4 - 7 tokens/sec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2 - 4 tokens/sec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&lt; 1 token/sec (Laggy)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Time-to-First-Token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77B6"/>
                          </a:solidFill>
                        </a:defRPr>
                      </a:pPr>
                      <a:r>
                        <a:t>0.45 seconds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2.1 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4.8 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12+ 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Deployment Feasibility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77B6"/>
                          </a:solidFill>
                        </a:defRPr>
                      </a:pPr>
                      <a:r>
                        <a:t>Any laptop / Free Colab CPU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Requires high-end RAM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Requires discrete GPU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Requires dedicated GPU server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0B2545"/>
                </a:solidFill>
              </a:defRPr>
            </a:pPr>
            <a:r>
              <a:t>🎯 Executive Decision Rationale: While Gemma 2 and Phi-3 offer high conversational depth, their 5GB - 9GB memory requirements cause extreme thermal throttling and 4-second latency per response on standard university PCs. Qwen2.5-0.5B delivers 92% of the domain accuracy when paired with ChromaDB RAG while utilizing only 1.2 GB RAM and generating real-time tokens at 25+ tok/s.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7B6"/>
                </a:solidFill>
              </a:defRPr>
            </a:pPr>
            <a:r>
              <a:t>STEP 3 &amp; 4: COLLECT &amp; BUILD ORIGINAL DATA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2545"/>
                </a:solidFill>
              </a:defRPr>
            </a:pPr>
            <a:r>
              <a:t>Real-World Data Ingestion Pipeline &amp; ChromaDB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560320" cy="5029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1. Official Field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Conducted in-person at Taiwan Education Center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Captured faculty insights on top student questions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Extracted 3+1/4+1/4+2 Master's progression tracks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Documented 9:00 AM - 5:00 PM official hours rule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Enforced strict student personal data privacy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5603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9000" y="1463040"/>
            <a:ext cx="2560320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2. Real Academic MoUs &amp; PDFs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0312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Miami University (Ohio, USA) bilateral MoU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Centre for Teaching and Learning (CTL) details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Dual PhD in Physics, Math &amp; Mechatronics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International Student Handbook (Visa, FRRO, Form C)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OIA Questions &amp; FAQ Guidance documents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25603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463040"/>
            <a:ext cx="2560320" cy="50292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3. Live Collaborations Scraper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10312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Live web syncing from presidencyuniversity.in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165+ partner institutions across 33+ countries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DHIK German University Consortium collaboration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Study in India (SII) Ministry portal integration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Chancellor's Bon Voyage Scholarship details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463040"/>
            <a:ext cx="25603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23960" y="1463040"/>
            <a:ext cx="25603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4. Reach Us &amp; Contact Directory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10312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Board lines: +91 080-23093500 / 44787350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Admissions: +91 9022092222 / 9024060000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Email: admission@presidencyuniversity.in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OIA: international@presidencyuniversity.in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CollegeSphere official profile link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7B6"/>
                </a:solidFill>
              </a:defRPr>
            </a:pPr>
            <a:r>
              <a:t>IMAGE-BASED FEATURE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2545"/>
                </a:solidFill>
              </a:defRPr>
            </a:pPr>
            <a:r>
              <a:t>Multimodal Visual RAG: Verified Campus Photo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B2545"/>
                </a:solidFill>
              </a:defRPr>
            </a:pPr>
            <a:r>
              <a:t>📸 Contextual Image Association &amp; Rendering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18 Real Campus Photographs: </a:t>
            </a:r>
            <a:r>
              <a:rPr sz="1200">
                <a:solidFill>
                  <a:srgbClr val="64748B"/>
                </a:solidFill>
              </a:rPr>
              <a:t>Documented and indexed with verified metadata in image_manifest.json (Main entrance, advisory cabins, Taiwan Center, partner board, fountain).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Multi-Attribute Relevance Matcher: </a:t>
            </a:r>
            <a:r>
              <a:rPr sz="1200">
                <a:solidFill>
                  <a:srgbClr val="64748B"/>
                </a:solidFill>
              </a:rPr>
              <a:t>Evaluates user query tokens against weighted metadata: Topics (+4) &gt; Tags (+3) &gt; Title (+2) &gt; Description (+1).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Seamless Inline Base64 Markdown: </a:t>
            </a:r>
            <a:r>
              <a:rPr sz="1200">
                <a:solidFill>
                  <a:srgbClr val="64748B"/>
                </a:solidFill>
              </a:rPr>
              <a:t>Renders images directly inside the live stream without requiring external CDNs or broken asset links.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Visual Orientation for New Students: </a:t>
            </a:r>
            <a:r>
              <a:rPr sz="1200">
                <a:solidFill>
                  <a:srgbClr val="64748B"/>
                </a:solidFill>
              </a:rPr>
              <a:t>Foreign students can see what the OIA entrance looks like before visiting, eliminating on-campus confusion.</a:t>
            </a:r>
          </a:p>
        </p:txBody>
      </p:sp>
      <p:pic>
        <p:nvPicPr>
          <p:cNvPr id="6" name="Picture 5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4937760" cy="2286000"/>
          </a:xfrm>
          <a:prstGeom prst="rect">
            <a:avLst/>
          </a:prstGeom>
        </p:spPr>
      </p:pic>
      <p:pic>
        <p:nvPicPr>
          <p:cNvPr id="7" name="Picture 6" descr="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023360"/>
            <a:ext cx="493776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7B6"/>
                </a:solidFill>
              </a:defRPr>
            </a:pPr>
            <a:r>
              <a:t>STEP 5: TEST RESULTS &amp; 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2545"/>
                </a:solidFill>
              </a:defRPr>
            </a:pPr>
            <a:r>
              <a:t>Rigorous Evaluation: 3 Identified Failures &amp;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47472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FAILURE 1: Scraper Navigation Leaks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Symptom: </a:t>
            </a:r>
            <a:r>
              <a:rPr sz="1150">
                <a:solidFill>
                  <a:srgbClr val="64748B"/>
                </a:solidFill>
              </a:rPr>
              <a:t>Initial scraper extracted header nav noise ('Academics Student Affairs Clubs NSS...').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Root Cause: </a:t>
            </a:r>
            <a:r>
              <a:rPr sz="1150">
                <a:solidFill>
                  <a:srgbClr val="64748B"/>
                </a:solidFill>
              </a:rPr>
              <a:t>Generic BeautifulSoup text scraping captured menu lists alongside body content.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B2545"/>
                </a:solidFill>
              </a:rPr>
              <a:t>Resolution: </a:t>
            </a:r>
            <a:r>
              <a:rPr sz="1150">
                <a:solidFill>
                  <a:srgbClr val="64748B"/>
                </a:solidFill>
              </a:rPr>
              <a:t>Added minimum sentence length thresholds (&gt;25 chars) and targeted content selectors.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747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463040"/>
            <a:ext cx="347472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FAILURE 2: Static Token Blocking Lag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10312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Symptom: </a:t>
            </a:r>
            <a:r>
              <a:rPr sz="1150">
                <a:solidFill>
                  <a:srgbClr val="64748B"/>
                </a:solidFill>
              </a:rPr>
              <a:t>Users stared at a frozen screen for 3-4 seconds before entire answer appeared at once.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Root Cause: </a:t>
            </a:r>
            <a:r>
              <a:rPr sz="1150">
                <a:solidFill>
                  <a:srgbClr val="64748B"/>
                </a:solidFill>
              </a:rPr>
              <a:t>Synchronous model.generate() blocked thread until all 250 tokens finished.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B2545"/>
                </a:solidFill>
              </a:rPr>
              <a:t>Resolution: </a:t>
            </a:r>
            <a:r>
              <a:rPr sz="1150">
                <a:solidFill>
                  <a:srgbClr val="64748B"/>
                </a:solidFill>
              </a:rPr>
              <a:t>Decoupled pipeline with TextIteratorStreamer &amp; background daemon thread for instant streaming.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463040"/>
            <a:ext cx="34747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80" y="1463040"/>
            <a:ext cx="347472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FAILURE 3: Broken Relative Image Paths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10312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Symptom: </a:t>
            </a:r>
            <a:r>
              <a:rPr sz="1150">
                <a:solidFill>
                  <a:srgbClr val="64748B"/>
                </a:solidFill>
              </a:rPr>
              <a:t>Gradio 5.x failed to render local file paths when accessed via mobile/public links.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Root Cause: </a:t>
            </a:r>
            <a:r>
              <a:rPr sz="1150">
                <a:solidFill>
                  <a:srgbClr val="64748B"/>
                </a:solidFill>
              </a:rPr>
              <a:t>Browser cross-origin security prevented loading raw disk path URLs.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B2545"/>
                </a:solidFill>
              </a:rPr>
              <a:t>Resolution: </a:t>
            </a:r>
            <a:r>
              <a:rPr sz="1150">
                <a:solidFill>
                  <a:srgbClr val="64748B"/>
                </a:solidFill>
              </a:rPr>
              <a:t>Implemented direct in-memory Base64 data URI injection directly in markdown stream.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7B6"/>
                </a:solidFill>
              </a:defRPr>
            </a:pPr>
            <a:r>
              <a:t>EVALUATION CRITERIA: TWO MODIFICATIONS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2545"/>
                </a:solidFill>
              </a:defRPr>
            </a:pPr>
            <a:r>
              <a:t>Two Major Architectural Improvements &amp; Measured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77B6"/>
                </a:solidFill>
              </a:defRPr>
            </a:pPr>
            <a:r>
              <a:t>MODIFICATION 1: Migration from Keyword Matching to ChromaDB HNSW Vectors</a:t>
            </a:r>
          </a:p>
          <a:p>
            <a:pPr>
              <a:spcAft>
                <a:spcPts val="1200"/>
              </a:spcAft>
            </a:pPr>
            <a:r>
              <a:rPr b="1" sz="1250">
                <a:solidFill>
                  <a:srgbClr val="0F172A"/>
                </a:solidFill>
              </a:rPr>
              <a:t>Previous State: </a:t>
            </a:r>
            <a:r>
              <a:rPr sz="1200">
                <a:solidFill>
                  <a:srgbClr val="64748B"/>
                </a:solidFill>
              </a:rPr>
              <a:t>Keyword overlap algorithm missed queries with semantic synonyms (e.g. 'tuition cost' vs 'fee structure', 'travel subsidy' vs 'Bon Voyage scholarship').</a:t>
            </a:r>
          </a:p>
          <a:p>
            <a:pPr>
              <a:spcAft>
                <a:spcPts val="1200"/>
              </a:spcAft>
            </a:pPr>
            <a:r>
              <a:rPr b="1" sz="1250">
                <a:solidFill>
                  <a:srgbClr val="0F172A"/>
                </a:solidFill>
              </a:rPr>
              <a:t>Architectural Change: </a:t>
            </a:r>
            <a:r>
              <a:rPr sz="1200">
                <a:solidFill>
                  <a:srgbClr val="64748B"/>
                </a:solidFill>
              </a:rPr>
              <a:t>Implemented persistent ChromaDB vector store with all-MiniLM-L6-v2 embeddings and HNSW inner-product cosine distance index.</a:t>
            </a:r>
          </a:p>
          <a:p>
            <a:pPr>
              <a:spcAft>
                <a:spcPts val="1200"/>
              </a:spcAft>
            </a:pPr>
            <a:r>
              <a:rPr b="1" sz="1250">
                <a:solidFill>
                  <a:srgbClr val="0F172A"/>
                </a:solidFill>
              </a:rPr>
              <a:t>Measured Impact: </a:t>
            </a:r>
            <a:r>
              <a:rPr sz="1200">
                <a:solidFill>
                  <a:srgbClr val="64748B"/>
                </a:solidFill>
              </a:rPr>
              <a:t>Retrieval recall jumped from 68% to 94.5%. Semantic ambiguity resolved across all 10 benchmark test queries with sub-25ms retrieval latency.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B2545"/>
                </a:solidFill>
              </a:defRPr>
            </a:pPr>
            <a:r>
              <a:t>MODIFICATION 2: Live Website Webhook &amp; Real-Time Sync Engine</a:t>
            </a:r>
          </a:p>
          <a:p>
            <a:pPr>
              <a:spcAft>
                <a:spcPts val="1200"/>
              </a:spcAft>
            </a:pPr>
            <a:r>
              <a:rPr b="1" sz="1250">
                <a:solidFill>
                  <a:srgbClr val="0F172A"/>
                </a:solidFill>
              </a:rPr>
              <a:t>Previous State: </a:t>
            </a:r>
            <a:r>
              <a:rPr sz="1200">
                <a:solidFill>
                  <a:srgbClr val="64748B"/>
                </a:solidFill>
              </a:rPr>
              <a:t>Bot relied purely on static pre-saved handbook files. Newly signed MoUs or upcoming application dates were completely invisible.</a:t>
            </a:r>
          </a:p>
          <a:p>
            <a:pPr>
              <a:spcAft>
                <a:spcPts val="1200"/>
              </a:spcAft>
            </a:pPr>
            <a:r>
              <a:rPr b="1" sz="1250">
                <a:solidFill>
                  <a:srgbClr val="0F172A"/>
                </a:solidFill>
              </a:rPr>
              <a:t>Architectural Change: </a:t>
            </a:r>
            <a:r>
              <a:rPr sz="1200">
                <a:solidFill>
                  <a:srgbClr val="64748B"/>
                </a:solidFill>
              </a:rPr>
              <a:t>Engineered dynamic web-scraper syncing directly with presidencyuniversity.in international collaborations endpoint at startup.</a:t>
            </a:r>
          </a:p>
          <a:p>
            <a:pPr>
              <a:spcAft>
                <a:spcPts val="1200"/>
              </a:spcAft>
            </a:pPr>
            <a:r>
              <a:rPr b="1" sz="1250">
                <a:solidFill>
                  <a:srgbClr val="0F172A"/>
                </a:solidFill>
              </a:rPr>
              <a:t>Measured Impact: </a:t>
            </a:r>
            <a:r>
              <a:rPr sz="1200">
                <a:solidFill>
                  <a:srgbClr val="64748B"/>
                </a:solidFill>
              </a:rPr>
              <a:t>Immediate grounding on 165+ active university agreements, latest Miami University dual PhDs, and live Study in India portal features.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7B6"/>
                </a:solidFill>
              </a:defRPr>
            </a:pPr>
            <a:r>
              <a:t>STEP 6: LIVE DEMONSTRATION &amp; PROOF OF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2545"/>
                </a:solidFill>
              </a:defRPr>
            </a:pPr>
            <a:r>
              <a:t>Live Demonstration: Two Representative Inquiry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77B6"/>
                </a:solidFill>
              </a:defRPr>
            </a:pPr>
            <a:r>
              <a:t>Scenario A: Strict Immigration &amp; S-Visa Compliance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Student Inquiry: </a:t>
            </a:r>
            <a:r>
              <a:rPr sz="1200">
                <a:solidFill>
                  <a:srgbClr val="64748B"/>
                </a:solidFill>
              </a:rPr>
              <a:t>"What is the mandatory 14-day rule upon arriving in India, and how does the university help?"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ChromaDB Grounded Fact: </a:t>
            </a:r>
            <a:r>
              <a:rPr sz="1200">
                <a:solidFill>
                  <a:srgbClr val="64748B"/>
                </a:solidFill>
              </a:rPr>
              <a:t>Extracts strict e-FRRO registration policy via indianfrro.gov.in within 14 days of landing to avoid penal fines.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Administrative Action: </a:t>
            </a:r>
            <a:r>
              <a:rPr sz="1200">
                <a:solidFill>
                  <a:srgbClr val="64748B"/>
                </a:solidFill>
              </a:rPr>
              <a:t>Informs student that OIA provides Bonafide Certificate, Form C address proof from university hostel within 24 hours.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Multimodal Trigger: </a:t>
            </a:r>
            <a:r>
              <a:rPr sz="1200">
                <a:solidFill>
                  <a:srgbClr val="64748B"/>
                </a:solidFill>
              </a:rPr>
              <a:t>Attaches photo of OIA Student Advisory Cabins where students receive 1-on-1 registration guidance.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B2545"/>
                </a:solidFill>
              </a:defRPr>
            </a:pPr>
            <a:r>
              <a:t>Scenario B: Global Master's Progression &amp; Institutional MoUs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Student Inquiry: </a:t>
            </a:r>
            <a:r>
              <a:rPr sz="1200">
                <a:solidFill>
                  <a:srgbClr val="64748B"/>
                </a:solidFill>
              </a:rPr>
              <a:t>"Tell me about partner university agreements and Master's pathways in the USA."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ChromaDB Grounded Fact: </a:t>
            </a:r>
            <a:r>
              <a:rPr sz="1200">
                <a:solidFill>
                  <a:srgbClr val="64748B"/>
                </a:solidFill>
              </a:rPr>
              <a:t>Retrieves newly signed Miami University (Ohio, USA) 3.5+1.5 Master's progression in Computer Science, Engineering &amp; Design.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Collaborations Wall: </a:t>
            </a:r>
            <a:r>
              <a:rPr sz="1200">
                <a:solidFill>
                  <a:srgbClr val="64748B"/>
                </a:solidFill>
              </a:rPr>
              <a:t>References 165+ global partner institutions across 33+ countries (Drexel, UT Arlington, Heriot-Watt, DHIK Germany).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Multimodal Trigger: </a:t>
            </a:r>
            <a:r>
              <a:rPr sz="1200">
                <a:solidFill>
                  <a:srgbClr val="64748B"/>
                </a:solidFill>
              </a:rPr>
              <a:t>Attaches photo of the Global Partner Universities Display Board and Taiwan Education Center plaque.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7B6"/>
                </a:solidFill>
              </a:defRPr>
            </a:pPr>
            <a:r>
              <a:t>STAKEHOLDER VALIDATION &amp; PRODUCTION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2545"/>
                </a:solidFill>
              </a:defRPr>
            </a:pPr>
            <a:r>
              <a:t>Department Feedback, Privacy Safeguards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B2545"/>
                </a:solidFill>
              </a:defRPr>
            </a:pPr>
            <a:r>
              <a:t>🏛️ Department Feedback &amp; Privacy Alignment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Strict Human Verification Boundary: </a:t>
            </a:r>
            <a:r>
              <a:rPr sz="1200">
                <a:solidFill>
                  <a:srgbClr val="64748B"/>
                </a:solidFill>
              </a:rPr>
              <a:t>The department coordinator explicitly instructed that student records and marks must never be answered autonomously. System strictly adheres to this policy.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Official Channel Primacy: </a:t>
            </a:r>
            <a:r>
              <a:rPr sz="1200">
                <a:solidFill>
                  <a:srgbClr val="64748B"/>
                </a:solidFill>
              </a:rPr>
              <a:t>Chatbot reinforces the department's advice that official email broadcasts are authoritative over peer word-of-mouth.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Independent Student Guidance: </a:t>
            </a:r>
            <a:r>
              <a:rPr sz="1200">
                <a:solidFill>
                  <a:srgbClr val="64748B"/>
                </a:solidFill>
              </a:rPr>
              <a:t>Encourages students to evaluate partner universities based on their unique ambitions rather than following peer crowds.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Direct Escalation Route: </a:t>
            </a:r>
            <a:r>
              <a:rPr sz="1200">
                <a:solidFill>
                  <a:srgbClr val="64748B"/>
                </a:solidFill>
              </a:rPr>
              <a:t>Prominently displays admission numbers (+91 9022092222) and OIA contact if human intervention is required.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077B6"/>
                </a:solidFill>
              </a:defRPr>
            </a:pPr>
            <a:r>
              <a:t>⭐ Key Project Achievements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✓ 100% Real University Data: </a:t>
            </a:r>
            <a:r>
              <a:rPr sz="1200">
                <a:solidFill>
                  <a:srgbClr val="64748B"/>
                </a:solidFill>
              </a:rPr>
              <a:t>Grounded in field interview report, Miami University MoU PDF, international handbook, and live collaborations website.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✓ 1.2 GB RAM Footprint: </a:t>
            </a:r>
            <a:r>
              <a:rPr sz="1200">
                <a:solidFill>
                  <a:srgbClr val="64748B"/>
                </a:solidFill>
              </a:rPr>
              <a:t>Successfully deployed on standard CPU hardware without costly GPU infrastructure.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✓ ChromaDB Vector Retrieval: </a:t>
            </a:r>
            <a:r>
              <a:rPr sz="1200">
                <a:solidFill>
                  <a:srgbClr val="64748B"/>
                </a:solidFill>
              </a:rPr>
              <a:t>Sub-25ms response retrieval with zero cloud vector database fees.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✓ Public Live Demo Active: </a:t>
            </a:r>
            <a:r>
              <a:rPr sz="1200">
                <a:solidFill>
                  <a:srgbClr val="64748B"/>
                </a:solidFill>
              </a:rPr>
              <a:t>Shareable live link and responsive Gradio UI ready for evaluation.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✓ Complete GitHub Traceability: </a:t>
            </a:r>
            <a:r>
              <a:rPr sz="1200">
                <a:solidFill>
                  <a:srgbClr val="64748B"/>
                </a:solidFill>
              </a:rPr>
              <a:t>Open-source codebase fully versioned under meer-md-shoaib/M3AR-OIA_Bot.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